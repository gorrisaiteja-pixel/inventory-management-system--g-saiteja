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_rels/presentation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_rels/slide15.xml.rels" ContentType="application/vnd.openxmlformats-package.relationships+xml"/>
  <Override PartName="/ppt/slides/_rels/slide14.xml.rels" ContentType="application/vnd.openxmlformats-package.relationships+xml"/>
  <Override PartName="/ppt/slides/_rels/slide13.xml.rels" ContentType="application/vnd.openxmlformats-package.relationships+xml"/>
  <Override PartName="/ppt/slides/_rels/slide9.xml.rels" ContentType="application/vnd.openxmlformats-package.relationships+xml"/>
  <Override PartName="/ppt/slides/_rels/slide12.xml.rels" ContentType="application/vnd.openxmlformats-package.relationships+xml"/>
  <Override PartName="/ppt/slides/_rels/slide8.xml.rels" ContentType="application/vnd.openxmlformats-package.relationships+xml"/>
  <Override PartName="/ppt/slides/_rels/slide11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7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rtl="0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9F5799-4CCB-4E11-9F6D-79256C4076F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49C3CBE-C86F-466A-A649-9F693F634EF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Double-tap to edit the title text format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Double-tap to edit the outline text format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" descr="a_clean_modern_colorful_infographic_style_poster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"/>
          <p:cNvSpPr/>
          <p:nvPr/>
        </p:nvSpPr>
        <p:spPr>
          <a:xfrm>
            <a:off x="4450680" y="320040"/>
            <a:ext cx="32594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173b57"/>
                </a:solidFill>
                <a:uFillTx/>
                <a:latin typeface="Calibri"/>
              </a:rPr>
              <a:t>1. Project Overview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" name="TextBox 2"/>
          <p:cNvSpPr/>
          <p:nvPr/>
        </p:nvSpPr>
        <p:spPr>
          <a:xfrm>
            <a:off x="3993480" y="932760"/>
            <a:ext cx="40460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667085"/>
                </a:solidFill>
                <a:uFillTx/>
                <a:latin typeface="Calibri"/>
              </a:rPr>
              <a:t>A practical system for a home-grocery retail shop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" name="TextBox 3"/>
          <p:cNvSpPr/>
          <p:nvPr/>
        </p:nvSpPr>
        <p:spPr>
          <a:xfrm>
            <a:off x="685800" y="1371600"/>
            <a:ext cx="5486040" cy="228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900" strike="noStrike" u="none">
                <a:solidFill>
                  <a:srgbClr val="344054"/>
                </a:solidFill>
                <a:uFillTx/>
                <a:latin typeface="Calibri"/>
              </a:rPr>
              <a:t>Centralizes products, purchases, sales, inventory, suppliers, customers and expenses.</a:t>
            </a:r>
            <a:endParaRPr b="0" lang="en-US" sz="1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900" strike="noStrike" u="none">
                <a:solidFill>
                  <a:srgbClr val="344054"/>
                </a:solidFill>
                <a:uFillTx/>
                <a:latin typeface="Calibri"/>
              </a:rPr>
              <a:t>Automatically updates stock from transactions.</a:t>
            </a:r>
            <a:endParaRPr b="0" lang="en-US" sz="1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900" strike="noStrike" u="none">
                <a:solidFill>
                  <a:srgbClr val="344054"/>
                </a:solidFill>
                <a:uFillTx/>
                <a:latin typeface="Calibri"/>
              </a:rPr>
              <a:t>Provides low-stock and expiry alerts.</a:t>
            </a:r>
            <a:endParaRPr b="0" lang="en-US" sz="1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900" strike="noStrike" u="none">
                <a:solidFill>
                  <a:srgbClr val="344054"/>
                </a:solidFill>
                <a:uFillTx/>
                <a:latin typeface="Calibri"/>
              </a:rPr>
              <a:t>Helps the shop owner make faster, data-based decisions.</a:t>
            </a:r>
            <a:endParaRPr b="0" lang="en-US" sz="1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9" name="Picture 4" descr="grocery_system_flow.png"/>
          <p:cNvPicPr/>
          <p:nvPr/>
        </p:nvPicPr>
        <p:blipFill>
          <a:blip r:embed="rId1"/>
          <a:stretch/>
        </p:blipFill>
        <p:spPr>
          <a:xfrm>
            <a:off x="6126480" y="1508760"/>
            <a:ext cx="5394600" cy="2311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TextBox 5"/>
          <p:cNvSpPr/>
          <p:nvPr/>
        </p:nvSpPr>
        <p:spPr>
          <a:xfrm>
            <a:off x="11029680" y="6446520"/>
            <a:ext cx="2512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787878"/>
                </a:solidFill>
                <a:uFillTx/>
                <a:latin typeface="Calibri"/>
              </a:rPr>
              <a:t>2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"/>
          <p:cNvSpPr/>
          <p:nvPr/>
        </p:nvSpPr>
        <p:spPr>
          <a:xfrm>
            <a:off x="4272840" y="320040"/>
            <a:ext cx="36154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173b57"/>
                </a:solidFill>
                <a:uFillTx/>
                <a:latin typeface="Calibri"/>
              </a:rPr>
              <a:t>2. Problem Statement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" name="TextBox 2"/>
          <p:cNvSpPr/>
          <p:nvPr/>
        </p:nvSpPr>
        <p:spPr>
          <a:xfrm>
            <a:off x="822960" y="1417320"/>
            <a:ext cx="6400440" cy="21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900" strike="noStrike" u="none">
                <a:solidFill>
                  <a:srgbClr val="344054"/>
                </a:solidFill>
                <a:uFillTx/>
                <a:latin typeface="Calibri"/>
              </a:rPr>
              <a:t>Manual stock records are time-consuming.</a:t>
            </a:r>
            <a:endParaRPr b="0" lang="en-US" sz="1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900" strike="noStrike" u="none">
                <a:solidFill>
                  <a:srgbClr val="344054"/>
                </a:solidFill>
                <a:uFillTx/>
                <a:latin typeface="Calibri"/>
              </a:rPr>
              <a:t>Stock shortages may be noticed too late.</a:t>
            </a:r>
            <a:endParaRPr b="0" lang="en-US" sz="1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900" strike="noStrike" u="none">
                <a:solidFill>
                  <a:srgbClr val="344054"/>
                </a:solidFill>
                <a:uFillTx/>
                <a:latin typeface="Calibri"/>
              </a:rPr>
              <a:t>Purchases and sales can be difficult to reconcile.</a:t>
            </a:r>
            <a:endParaRPr b="0" lang="en-US" sz="1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900" strike="noStrike" u="none">
                <a:solidFill>
                  <a:srgbClr val="344054"/>
                </a:solidFill>
                <a:uFillTx/>
                <a:latin typeface="Calibri"/>
              </a:rPr>
              <a:t>Expiry dates and supplier details may be scattered.</a:t>
            </a:r>
            <a:endParaRPr b="0" lang="en-US" sz="1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900" strike="noStrike" u="none">
                <a:solidFill>
                  <a:srgbClr val="344054"/>
                </a:solidFill>
                <a:uFillTx/>
                <a:latin typeface="Calibri"/>
              </a:rPr>
              <a:t>A single digital system can reduce these problems.</a:t>
            </a:r>
            <a:endParaRPr b="0" lang="en-US" sz="1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3" name="Picture 3" descr="grocery_products_mockup.png"/>
          <p:cNvPicPr/>
          <p:nvPr/>
        </p:nvPicPr>
        <p:blipFill>
          <a:blip r:embed="rId1"/>
          <a:stretch/>
        </p:blipFill>
        <p:spPr>
          <a:xfrm>
            <a:off x="7406640" y="1417320"/>
            <a:ext cx="4114440" cy="205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TextBox 4"/>
          <p:cNvSpPr/>
          <p:nvPr/>
        </p:nvSpPr>
        <p:spPr>
          <a:xfrm>
            <a:off x="11029680" y="6446520"/>
            <a:ext cx="2512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787878"/>
                </a:solidFill>
                <a:uFillTx/>
                <a:latin typeface="Calibri"/>
              </a:rPr>
              <a:t>3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"/>
          <p:cNvSpPr/>
          <p:nvPr/>
        </p:nvSpPr>
        <p:spPr>
          <a:xfrm>
            <a:off x="4963680" y="320040"/>
            <a:ext cx="22334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173b57"/>
                </a:solidFill>
                <a:uFillTx/>
                <a:latin typeface="Calibri"/>
              </a:rPr>
              <a:t>3. Objectives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" name="Rounded Rectangle 2"/>
          <p:cNvSpPr/>
          <p:nvPr/>
        </p:nvSpPr>
        <p:spPr>
          <a:xfrm>
            <a:off x="731520" y="1417320"/>
            <a:ext cx="3291480" cy="1599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e4ec"/>
            </a:solidFill>
            <a:round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7" name="TextBox 3"/>
          <p:cNvSpPr/>
          <p:nvPr/>
        </p:nvSpPr>
        <p:spPr>
          <a:xfrm>
            <a:off x="993600" y="1581840"/>
            <a:ext cx="435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1e9e70"/>
                </a:solidFill>
                <a:uFillTx/>
                <a:latin typeface="Calibri"/>
              </a:rPr>
              <a:t>01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" name="TextBox 4"/>
          <p:cNvSpPr/>
          <p:nvPr/>
        </p:nvSpPr>
        <p:spPr>
          <a:xfrm>
            <a:off x="1243440" y="2103120"/>
            <a:ext cx="21758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173b57"/>
                </a:solidFill>
                <a:uFillTx/>
                <a:latin typeface="Calibri"/>
              </a:rPr>
              <a:t>Manage Products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" name="Rounded Rectangle 5"/>
          <p:cNvSpPr/>
          <p:nvPr/>
        </p:nvSpPr>
        <p:spPr>
          <a:xfrm>
            <a:off x="4526280" y="1417320"/>
            <a:ext cx="3291480" cy="1599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e4ec"/>
            </a:solidFill>
            <a:round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20" name="TextBox 6"/>
          <p:cNvSpPr/>
          <p:nvPr/>
        </p:nvSpPr>
        <p:spPr>
          <a:xfrm>
            <a:off x="4788360" y="1581840"/>
            <a:ext cx="435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1e9e70"/>
                </a:solidFill>
                <a:uFillTx/>
                <a:latin typeface="Calibri"/>
              </a:rPr>
              <a:t>02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" name="TextBox 7"/>
          <p:cNvSpPr/>
          <p:nvPr/>
        </p:nvSpPr>
        <p:spPr>
          <a:xfrm>
            <a:off x="5163480" y="2103120"/>
            <a:ext cx="19256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173b57"/>
                </a:solidFill>
                <a:uFillTx/>
                <a:latin typeface="Calibri"/>
              </a:rPr>
              <a:t>Track Inventory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" name="Rounded Rectangle 8"/>
          <p:cNvSpPr/>
          <p:nvPr/>
        </p:nvSpPr>
        <p:spPr>
          <a:xfrm>
            <a:off x="8321040" y="1417320"/>
            <a:ext cx="3291480" cy="1599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e4ec"/>
            </a:solidFill>
            <a:round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23" name="TextBox 9"/>
          <p:cNvSpPr/>
          <p:nvPr/>
        </p:nvSpPr>
        <p:spPr>
          <a:xfrm>
            <a:off x="8583120" y="1581840"/>
            <a:ext cx="435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1e9e70"/>
                </a:solidFill>
                <a:uFillTx/>
                <a:latin typeface="Calibri"/>
              </a:rPr>
              <a:t>03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" name="TextBox 10"/>
          <p:cNvSpPr/>
          <p:nvPr/>
        </p:nvSpPr>
        <p:spPr>
          <a:xfrm>
            <a:off x="9066600" y="2103120"/>
            <a:ext cx="17089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173b57"/>
                </a:solidFill>
                <a:uFillTx/>
                <a:latin typeface="Calibri"/>
              </a:rPr>
              <a:t>Record Sales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" name="Rounded Rectangle 11"/>
          <p:cNvSpPr/>
          <p:nvPr/>
        </p:nvSpPr>
        <p:spPr>
          <a:xfrm>
            <a:off x="731520" y="3566160"/>
            <a:ext cx="3291480" cy="1599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e4ec"/>
            </a:solidFill>
            <a:round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26" name="TextBox 12"/>
          <p:cNvSpPr/>
          <p:nvPr/>
        </p:nvSpPr>
        <p:spPr>
          <a:xfrm>
            <a:off x="993600" y="3730680"/>
            <a:ext cx="435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1e9e70"/>
                </a:solidFill>
                <a:uFillTx/>
                <a:latin typeface="Calibri"/>
              </a:rPr>
              <a:t>04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" name="TextBox 13"/>
          <p:cNvSpPr/>
          <p:nvPr/>
        </p:nvSpPr>
        <p:spPr>
          <a:xfrm>
            <a:off x="1144440" y="4251960"/>
            <a:ext cx="23738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173b57"/>
                </a:solidFill>
                <a:uFillTx/>
                <a:latin typeface="Calibri"/>
              </a:rPr>
              <a:t>Manage Purchases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" name="Rounded Rectangle 14"/>
          <p:cNvSpPr/>
          <p:nvPr/>
        </p:nvSpPr>
        <p:spPr>
          <a:xfrm>
            <a:off x="4526280" y="3566160"/>
            <a:ext cx="3291480" cy="1599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e4ec"/>
            </a:solidFill>
            <a:round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29" name="TextBox 15"/>
          <p:cNvSpPr/>
          <p:nvPr/>
        </p:nvSpPr>
        <p:spPr>
          <a:xfrm>
            <a:off x="4788360" y="3730680"/>
            <a:ext cx="435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1e9e70"/>
                </a:solidFill>
                <a:uFillTx/>
                <a:latin typeface="Calibri"/>
              </a:rPr>
              <a:t>05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" name="TextBox 16"/>
          <p:cNvSpPr/>
          <p:nvPr/>
        </p:nvSpPr>
        <p:spPr>
          <a:xfrm>
            <a:off x="5222520" y="4251960"/>
            <a:ext cx="18075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173b57"/>
                </a:solidFill>
                <a:uFillTx/>
                <a:latin typeface="Calibri"/>
              </a:rPr>
              <a:t>Monitor Expiry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" name="Rounded Rectangle 17"/>
          <p:cNvSpPr/>
          <p:nvPr/>
        </p:nvSpPr>
        <p:spPr>
          <a:xfrm>
            <a:off x="8321040" y="3566160"/>
            <a:ext cx="3291480" cy="1599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e4ec"/>
            </a:solidFill>
            <a:round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32" name="TextBox 18"/>
          <p:cNvSpPr/>
          <p:nvPr/>
        </p:nvSpPr>
        <p:spPr>
          <a:xfrm>
            <a:off x="8583120" y="3730680"/>
            <a:ext cx="435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1e9e70"/>
                </a:solidFill>
                <a:uFillTx/>
                <a:latin typeface="Calibri"/>
              </a:rPr>
              <a:t>06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" name="TextBox 19"/>
          <p:cNvSpPr/>
          <p:nvPr/>
        </p:nvSpPr>
        <p:spPr>
          <a:xfrm>
            <a:off x="8818920" y="4251960"/>
            <a:ext cx="22039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173b57"/>
                </a:solidFill>
                <a:uFillTx/>
                <a:latin typeface="Calibri"/>
              </a:rPr>
              <a:t>Generate Reports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" name="TextBox 20"/>
          <p:cNvSpPr/>
          <p:nvPr/>
        </p:nvSpPr>
        <p:spPr>
          <a:xfrm>
            <a:off x="11029680" y="6446520"/>
            <a:ext cx="2512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787878"/>
                </a:solidFill>
                <a:uFillTx/>
                <a:latin typeface="Calibri"/>
              </a:rPr>
              <a:t>4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1"/>
          <p:cNvSpPr/>
          <p:nvPr/>
        </p:nvSpPr>
        <p:spPr>
          <a:xfrm>
            <a:off x="4687200" y="320040"/>
            <a:ext cx="27864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173b57"/>
                </a:solidFill>
                <a:uFillTx/>
                <a:latin typeface="Calibri"/>
              </a:rPr>
              <a:t>4. Main Modules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" name="TextBox 2"/>
          <p:cNvSpPr/>
          <p:nvPr/>
        </p:nvSpPr>
        <p:spPr>
          <a:xfrm>
            <a:off x="822960" y="1325880"/>
            <a:ext cx="5486040" cy="377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800" strike="noStrike" u="none">
                <a:solidFill>
                  <a:srgbClr val="344054"/>
                </a:solidFill>
                <a:uFillTx/>
                <a:latin typeface="Calibri"/>
              </a:rPr>
              <a:t>Login &amp; Authentication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800" strike="noStrike" u="none">
                <a:solidFill>
                  <a:srgbClr val="344054"/>
                </a:solidFill>
                <a:uFillTx/>
                <a:latin typeface="Calibri"/>
              </a:rPr>
              <a:t>Dashboard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800" strike="noStrike" u="none">
                <a:solidFill>
                  <a:srgbClr val="344054"/>
                </a:solidFill>
                <a:uFillTx/>
                <a:latin typeface="Calibri"/>
              </a:rPr>
              <a:t>Products &amp; Categories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800" strike="noStrike" u="none">
                <a:solidFill>
                  <a:srgbClr val="344054"/>
                </a:solidFill>
                <a:uFillTx/>
                <a:latin typeface="Calibri"/>
              </a:rPr>
              <a:t>Purchases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800" strike="noStrike" u="none">
                <a:solidFill>
                  <a:srgbClr val="344054"/>
                </a:solidFill>
                <a:uFillTx/>
                <a:latin typeface="Calibri"/>
              </a:rPr>
              <a:t>Sales / Billing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800" strike="noStrike" u="none">
                <a:solidFill>
                  <a:srgbClr val="344054"/>
                </a:solidFill>
                <a:uFillTx/>
                <a:latin typeface="Calibri"/>
              </a:rPr>
              <a:t>Inventory &amp; Stock Transactions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800" strike="noStrike" u="none">
                <a:solidFill>
                  <a:srgbClr val="344054"/>
                </a:solidFill>
                <a:uFillTx/>
                <a:latin typeface="Calibri"/>
              </a:rPr>
              <a:t>Suppliers &amp; Customers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800" strike="noStrike" u="none">
                <a:solidFill>
                  <a:srgbClr val="344054"/>
                </a:solidFill>
                <a:uFillTx/>
                <a:latin typeface="Calibri"/>
              </a:rPr>
              <a:t>Expenses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800" strike="noStrike" u="none">
                <a:solidFill>
                  <a:srgbClr val="344054"/>
                </a:solidFill>
                <a:uFillTx/>
                <a:latin typeface="Calibri"/>
              </a:rPr>
              <a:t>Reports &amp; Settings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37" name="Picture 3" descr="a_clean_modern_colorful_infographic_style_poster.png"/>
          <p:cNvPicPr/>
          <p:nvPr/>
        </p:nvPicPr>
        <p:blipFill>
          <a:blip r:embed="rId1"/>
          <a:stretch/>
        </p:blipFill>
        <p:spPr>
          <a:xfrm>
            <a:off x="6400800" y="1280160"/>
            <a:ext cx="5211720" cy="3474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" name="TextBox 4"/>
          <p:cNvSpPr/>
          <p:nvPr/>
        </p:nvSpPr>
        <p:spPr>
          <a:xfrm>
            <a:off x="11029680" y="6446520"/>
            <a:ext cx="2512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787878"/>
                </a:solidFill>
                <a:uFillTx/>
                <a:latin typeface="Calibri"/>
              </a:rPr>
              <a:t>5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1"/>
          <p:cNvSpPr/>
          <p:nvPr/>
        </p:nvSpPr>
        <p:spPr>
          <a:xfrm>
            <a:off x="3414240" y="320040"/>
            <a:ext cx="53323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173b57"/>
                </a:solidFill>
                <a:uFillTx/>
                <a:latin typeface="Calibri"/>
              </a:rPr>
              <a:t>5. Grocery Product Management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" name="TextBox 2"/>
          <p:cNvSpPr/>
          <p:nvPr/>
        </p:nvSpPr>
        <p:spPr>
          <a:xfrm>
            <a:off x="731520" y="1325880"/>
            <a:ext cx="5120280" cy="281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700" strike="noStrike" u="none">
                <a:solidFill>
                  <a:srgbClr val="344054"/>
                </a:solidFill>
                <a:uFillTx/>
                <a:latin typeface="Calibri"/>
              </a:rPr>
              <a:t>Product name, category and brand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700" strike="noStrike" u="none">
                <a:solidFill>
                  <a:srgbClr val="344054"/>
                </a:solidFill>
                <a:uFillTx/>
                <a:latin typeface="Calibri"/>
              </a:rPr>
              <a:t>Barcode / SKU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700" strike="noStrike" u="none">
                <a:solidFill>
                  <a:srgbClr val="344054"/>
                </a:solidFill>
                <a:uFillTx/>
                <a:latin typeface="Calibri"/>
              </a:rPr>
              <a:t>Purchase and selling price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700" strike="noStrike" u="none">
                <a:solidFill>
                  <a:srgbClr val="344054"/>
                </a:solidFill>
                <a:uFillTx/>
                <a:latin typeface="Calibri"/>
              </a:rPr>
              <a:t>Current and minimum stock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700" strike="noStrike" u="none">
                <a:solidFill>
                  <a:srgbClr val="344054"/>
                </a:solidFill>
                <a:uFillTx/>
                <a:latin typeface="Calibri"/>
              </a:rPr>
              <a:t>Unit: kg, gram, litre, ml, packet, box, bottle, piece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700" strike="noStrike" u="none">
                <a:solidFill>
                  <a:srgbClr val="344054"/>
                </a:solidFill>
                <a:uFillTx/>
                <a:latin typeface="Calibri"/>
              </a:rPr>
              <a:t>Batch number and expiry date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700" strike="noStrike" u="none">
                <a:solidFill>
                  <a:srgbClr val="344054"/>
                </a:solidFill>
                <a:uFillTx/>
                <a:latin typeface="Calibri"/>
              </a:rPr>
              <a:t>Supplier and product status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41" name="Picture 3" descr="grocery_products_mockup.png"/>
          <p:cNvPicPr/>
          <p:nvPr/>
        </p:nvPicPr>
        <p:blipFill>
          <a:blip r:embed="rId1"/>
          <a:stretch/>
        </p:blipFill>
        <p:spPr>
          <a:xfrm>
            <a:off x="5989320" y="1371600"/>
            <a:ext cx="5577480" cy="278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" name="TextBox 4"/>
          <p:cNvSpPr/>
          <p:nvPr/>
        </p:nvSpPr>
        <p:spPr>
          <a:xfrm>
            <a:off x="11029680" y="6446520"/>
            <a:ext cx="2512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787878"/>
                </a:solidFill>
                <a:uFillTx/>
                <a:latin typeface="Calibri"/>
              </a:rPr>
              <a:t>6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1"/>
          <p:cNvSpPr/>
          <p:nvPr/>
        </p:nvSpPr>
        <p:spPr>
          <a:xfrm>
            <a:off x="3976560" y="320040"/>
            <a:ext cx="42076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173b57"/>
                </a:solidFill>
                <a:uFillTx/>
                <a:latin typeface="Calibri"/>
              </a:rPr>
              <a:t>6. Inventory Management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" name="TextBox 2"/>
          <p:cNvSpPr/>
          <p:nvPr/>
        </p:nvSpPr>
        <p:spPr>
          <a:xfrm>
            <a:off x="4665600" y="932760"/>
            <a:ext cx="27018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667085"/>
                </a:solidFill>
                <a:uFillTx/>
                <a:latin typeface="Calibri"/>
              </a:rPr>
              <a:t>Transaction-based stock control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45" name="Picture 3" descr="grocery_dashboard_mockup.png"/>
          <p:cNvPicPr/>
          <p:nvPr/>
        </p:nvPicPr>
        <p:blipFill>
          <a:blip r:embed="rId1"/>
          <a:stretch/>
        </p:blipFill>
        <p:spPr>
          <a:xfrm>
            <a:off x="594360" y="1325880"/>
            <a:ext cx="6583320" cy="376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" name="TextBox 4"/>
          <p:cNvSpPr/>
          <p:nvPr/>
        </p:nvSpPr>
        <p:spPr>
          <a:xfrm>
            <a:off x="7452360" y="1417320"/>
            <a:ext cx="4114440" cy="280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600" strike="noStrike" u="none">
                <a:solidFill>
                  <a:srgbClr val="344054"/>
                </a:solidFill>
                <a:uFillTx/>
                <a:latin typeface="Calibri"/>
              </a:rPr>
              <a:t>Purchase → Stock increases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600" strike="noStrike" u="none">
                <a:solidFill>
                  <a:srgbClr val="344054"/>
                </a:solidFill>
                <a:uFillTx/>
                <a:latin typeface="Calibri"/>
              </a:rPr>
              <a:t>Sale → Stock decreases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600" strike="noStrike" u="none">
                <a:solidFill>
                  <a:srgbClr val="344054"/>
                </a:solidFill>
                <a:uFillTx/>
                <a:latin typeface="Calibri"/>
              </a:rPr>
              <a:t>Low Stock when current stock ≤ minimum level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600" strike="noStrike" u="none">
                <a:solidFill>
                  <a:srgbClr val="344054"/>
                </a:solidFill>
                <a:uFillTx/>
                <a:latin typeface="Calibri"/>
              </a:rPr>
              <a:t>Out of Stock when quantity = 0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600" strike="noStrike" u="none">
                <a:solidFill>
                  <a:srgbClr val="344054"/>
                </a:solidFill>
                <a:uFillTx/>
                <a:latin typeface="Calibri"/>
              </a:rPr>
              <a:t>Every stock change creates an inventory transaction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600" strike="noStrike" u="none">
                <a:solidFill>
                  <a:srgbClr val="344054"/>
                </a:solidFill>
                <a:uFillTx/>
                <a:latin typeface="Calibri"/>
              </a:rPr>
              <a:t>Negative inventory is prevented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" name="TextBox 5"/>
          <p:cNvSpPr/>
          <p:nvPr/>
        </p:nvSpPr>
        <p:spPr>
          <a:xfrm>
            <a:off x="11029680" y="6446520"/>
            <a:ext cx="2512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787878"/>
                </a:solidFill>
                <a:uFillTx/>
                <a:latin typeface="Calibri"/>
              </a:rPr>
              <a:t>7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Box 1"/>
          <p:cNvSpPr/>
          <p:nvPr/>
        </p:nvSpPr>
        <p:spPr>
          <a:xfrm>
            <a:off x="4657680" y="320040"/>
            <a:ext cx="28458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173b57"/>
                </a:solidFill>
                <a:uFillTx/>
                <a:latin typeface="Calibri"/>
              </a:rPr>
              <a:t>7. Sales &amp; Billing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" name="TextBox 2"/>
          <p:cNvSpPr/>
          <p:nvPr/>
        </p:nvSpPr>
        <p:spPr>
          <a:xfrm>
            <a:off x="731520" y="1371600"/>
            <a:ext cx="5668920" cy="249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800" strike="noStrike" u="none">
                <a:solidFill>
                  <a:srgbClr val="344054"/>
                </a:solidFill>
                <a:uFillTx/>
                <a:latin typeface="Calibri"/>
              </a:rPr>
              <a:t>POS-style product search and billing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800" strike="noStrike" u="none">
                <a:solidFill>
                  <a:srgbClr val="344054"/>
                </a:solidFill>
                <a:uFillTx/>
                <a:latin typeface="Calibri"/>
              </a:rPr>
              <a:t>Quantity, selling price, discount and GST/tax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800" strike="noStrike" u="none">
                <a:solidFill>
                  <a:srgbClr val="344054"/>
                </a:solidFill>
                <a:uFillTx/>
                <a:latin typeface="Calibri"/>
              </a:rPr>
              <a:t>Cash, UPI, Card and Other payment methods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800" strike="noStrike" u="none">
                <a:solidFill>
                  <a:srgbClr val="344054"/>
                </a:solidFill>
                <a:uFillTx/>
                <a:latin typeface="Calibri"/>
              </a:rPr>
              <a:t>Checks available stock before sale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800" strike="noStrike" u="none">
                <a:solidFill>
                  <a:srgbClr val="344054"/>
                </a:solidFill>
                <a:uFillTx/>
                <a:latin typeface="Calibri"/>
              </a:rPr>
              <a:t>Automatically reduces inventory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800" strike="noStrike" u="none">
                <a:solidFill>
                  <a:srgbClr val="344054"/>
                </a:solidFill>
                <a:uFillTx/>
                <a:latin typeface="Calibri"/>
              </a:rPr>
              <a:t>Printable invoice with sale details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50" name="Picture 3" descr="grocery_dashboard_mockup.png"/>
          <p:cNvPicPr/>
          <p:nvPr/>
        </p:nvPicPr>
        <p:blipFill>
          <a:blip r:embed="rId1"/>
          <a:stretch/>
        </p:blipFill>
        <p:spPr>
          <a:xfrm>
            <a:off x="6400800" y="1417320"/>
            <a:ext cx="5120280" cy="2925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" name="TextBox 4"/>
          <p:cNvSpPr/>
          <p:nvPr/>
        </p:nvSpPr>
        <p:spPr>
          <a:xfrm>
            <a:off x="11029680" y="6446520"/>
            <a:ext cx="2512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787878"/>
                </a:solidFill>
                <a:uFillTx/>
                <a:latin typeface="Calibri"/>
              </a:rPr>
              <a:t>8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Box 1"/>
          <p:cNvSpPr/>
          <p:nvPr/>
        </p:nvSpPr>
        <p:spPr>
          <a:xfrm>
            <a:off x="3996360" y="320040"/>
            <a:ext cx="41680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173b57"/>
                </a:solidFill>
                <a:uFillTx/>
                <a:latin typeface="Calibri"/>
              </a:rPr>
              <a:t>8. Purchases &amp; Suppliers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" name="TextBox 2"/>
          <p:cNvSpPr/>
          <p:nvPr/>
        </p:nvSpPr>
        <p:spPr>
          <a:xfrm>
            <a:off x="731520" y="1371600"/>
            <a:ext cx="5577480" cy="249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800" strike="noStrike" u="none">
                <a:solidFill>
                  <a:srgbClr val="344054"/>
                </a:solidFill>
                <a:uFillTx/>
                <a:latin typeface="Calibri"/>
              </a:rPr>
              <a:t>Supplier, invoice number and purchase date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800" strike="noStrike" u="none">
                <a:solidFill>
                  <a:srgbClr val="344054"/>
                </a:solidFill>
                <a:uFillTx/>
                <a:latin typeface="Calibri"/>
              </a:rPr>
              <a:t>Multiple products per purchase invoice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800" strike="noStrike" u="none">
                <a:solidFill>
                  <a:srgbClr val="344054"/>
                </a:solidFill>
                <a:uFillTx/>
                <a:latin typeface="Calibri"/>
              </a:rPr>
              <a:t>Quantity, purchase price, tax and discount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800" strike="noStrike" u="none">
                <a:solidFill>
                  <a:srgbClr val="344054"/>
                </a:solidFill>
                <a:uFillTx/>
                <a:latin typeface="Calibri"/>
              </a:rPr>
              <a:t>Payment status and notes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800" strike="noStrike" u="none">
                <a:solidFill>
                  <a:srgbClr val="344054"/>
                </a:solidFill>
                <a:uFillTx/>
                <a:latin typeface="Calibri"/>
              </a:rPr>
              <a:t>Completed purchases automatically increase inventory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800" strike="noStrike" u="none">
                <a:solidFill>
                  <a:srgbClr val="344054"/>
                </a:solidFill>
                <a:uFillTx/>
                <a:latin typeface="Calibri"/>
              </a:rPr>
              <a:t>Supplier purchase history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54" name="Picture 3" descr="grocery_system_flow.png"/>
          <p:cNvPicPr/>
          <p:nvPr/>
        </p:nvPicPr>
        <p:blipFill>
          <a:blip r:embed="rId1"/>
          <a:stretch/>
        </p:blipFill>
        <p:spPr>
          <a:xfrm>
            <a:off x="6217920" y="1600200"/>
            <a:ext cx="5211720" cy="2233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" name="TextBox 4"/>
          <p:cNvSpPr/>
          <p:nvPr/>
        </p:nvSpPr>
        <p:spPr>
          <a:xfrm>
            <a:off x="11029680" y="6446520"/>
            <a:ext cx="2512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787878"/>
                </a:solidFill>
                <a:uFillTx/>
                <a:latin typeface="Calibri"/>
              </a:rPr>
              <a:t>9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Box 1"/>
          <p:cNvSpPr/>
          <p:nvPr/>
        </p:nvSpPr>
        <p:spPr>
          <a:xfrm>
            <a:off x="4144680" y="320040"/>
            <a:ext cx="38714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173b57"/>
                </a:solidFill>
                <a:uFillTx/>
                <a:latin typeface="Calibri"/>
              </a:rPr>
              <a:t>9. Expiry &amp; Stock Alerts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" name="Rounded Rectangle 2"/>
          <p:cNvSpPr/>
          <p:nvPr/>
        </p:nvSpPr>
        <p:spPr>
          <a:xfrm>
            <a:off x="822960" y="1371600"/>
            <a:ext cx="4297320" cy="566640"/>
          </a:xfrm>
          <a:prstGeom prst="roundRect">
            <a:avLst>
              <a:gd name="adj" fmla="val 16667"/>
            </a:avLst>
          </a:prstGeom>
          <a:solidFill>
            <a:srgbClr val="d94a4a"/>
          </a:solidFill>
          <a:ln>
            <a:noFill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ffffff"/>
                </a:solidFill>
                <a:uFillTx/>
                <a:latin typeface="Calibri"/>
              </a:rPr>
              <a:t>Expired</a:t>
            </a: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8" name="Rounded Rectangle 3"/>
          <p:cNvSpPr/>
          <p:nvPr/>
        </p:nvSpPr>
        <p:spPr>
          <a:xfrm>
            <a:off x="822960" y="2194560"/>
            <a:ext cx="4297320" cy="566640"/>
          </a:xfrm>
          <a:prstGeom prst="roundRect">
            <a:avLst>
              <a:gd name="adj" fmla="val 16667"/>
            </a:avLst>
          </a:prstGeom>
          <a:solidFill>
            <a:srgbClr val="f2a51a"/>
          </a:solidFill>
          <a:ln>
            <a:noFill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ffffff"/>
                </a:solidFill>
                <a:uFillTx/>
                <a:latin typeface="Calibri"/>
              </a:rPr>
              <a:t>Expiring ≤ 7 days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" name="Rounded Rectangle 4"/>
          <p:cNvSpPr/>
          <p:nvPr/>
        </p:nvSpPr>
        <p:spPr>
          <a:xfrm>
            <a:off x="822960" y="3017520"/>
            <a:ext cx="4297320" cy="566640"/>
          </a:xfrm>
          <a:prstGeom prst="roundRect">
            <a:avLst>
              <a:gd name="adj" fmla="val 16667"/>
            </a:avLst>
          </a:prstGeom>
          <a:solidFill>
            <a:srgbClr val="f2a51a"/>
          </a:solidFill>
          <a:ln>
            <a:noFill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ffffff"/>
                </a:solidFill>
                <a:uFillTx/>
                <a:latin typeface="Calibri"/>
              </a:rPr>
              <a:t>Expiring ≤ 30 days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0" name="Rounded Rectangle 5"/>
          <p:cNvSpPr/>
          <p:nvPr/>
        </p:nvSpPr>
        <p:spPr>
          <a:xfrm>
            <a:off x="822960" y="3840480"/>
            <a:ext cx="4297320" cy="566640"/>
          </a:xfrm>
          <a:prstGeom prst="roundRect">
            <a:avLst>
              <a:gd name="adj" fmla="val 16667"/>
            </a:avLst>
          </a:prstGeom>
          <a:solidFill>
            <a:srgbClr val="f2a51a"/>
          </a:solidFill>
          <a:ln>
            <a:noFill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ffffff"/>
                </a:solidFill>
                <a:uFillTx/>
                <a:latin typeface="Calibri"/>
              </a:rPr>
              <a:t>Low Stock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" name="Rounded Rectangle 6"/>
          <p:cNvSpPr/>
          <p:nvPr/>
        </p:nvSpPr>
        <p:spPr>
          <a:xfrm>
            <a:off x="822960" y="4663440"/>
            <a:ext cx="4297320" cy="566640"/>
          </a:xfrm>
          <a:prstGeom prst="roundRect">
            <a:avLst>
              <a:gd name="adj" fmla="val 16667"/>
            </a:avLst>
          </a:prstGeom>
          <a:solidFill>
            <a:srgbClr val="d94a4a"/>
          </a:solidFill>
          <a:ln>
            <a:noFill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ffffff"/>
                </a:solidFill>
                <a:uFillTx/>
                <a:latin typeface="Calibri"/>
              </a:rPr>
              <a:t>Out of Stock</a:t>
            </a: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62" name="Picture 7" descr="grocery_dashboard_mockup.png"/>
          <p:cNvPicPr/>
          <p:nvPr/>
        </p:nvPicPr>
        <p:blipFill>
          <a:blip r:embed="rId1"/>
          <a:stretch/>
        </p:blipFill>
        <p:spPr>
          <a:xfrm>
            <a:off x="5486400" y="1371600"/>
            <a:ext cx="5851800" cy="3343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TextBox 8"/>
          <p:cNvSpPr/>
          <p:nvPr/>
        </p:nvSpPr>
        <p:spPr>
          <a:xfrm>
            <a:off x="10994400" y="6446520"/>
            <a:ext cx="3218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787878"/>
                </a:solidFill>
                <a:uFillTx/>
                <a:latin typeface="Calibri"/>
              </a:rPr>
              <a:t>10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Box 1"/>
          <p:cNvSpPr/>
          <p:nvPr/>
        </p:nvSpPr>
        <p:spPr>
          <a:xfrm>
            <a:off x="4154400" y="320040"/>
            <a:ext cx="38520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173b57"/>
                </a:solidFill>
                <a:uFillTx/>
                <a:latin typeface="Calibri"/>
              </a:rPr>
              <a:t>10. Reports &amp; Analytics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5" name="TextBox 2"/>
          <p:cNvSpPr/>
          <p:nvPr/>
        </p:nvSpPr>
        <p:spPr>
          <a:xfrm>
            <a:off x="731520" y="1371600"/>
            <a:ext cx="5486040" cy="322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700" strike="noStrike" u="none">
                <a:solidFill>
                  <a:srgbClr val="344054"/>
                </a:solidFill>
                <a:uFillTx/>
                <a:latin typeface="Calibri"/>
              </a:rPr>
              <a:t>Daily and monthly sales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700" strike="noStrike" u="none">
                <a:solidFill>
                  <a:srgbClr val="344054"/>
                </a:solidFill>
                <a:uFillTx/>
                <a:latin typeface="Calibri"/>
              </a:rPr>
              <a:t>Purchase report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700" strike="noStrike" u="none">
                <a:solidFill>
                  <a:srgbClr val="344054"/>
                </a:solidFill>
                <a:uFillTx/>
                <a:latin typeface="Calibri"/>
              </a:rPr>
              <a:t>Inventory and low-stock report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700" strike="noStrike" u="none">
                <a:solidFill>
                  <a:srgbClr val="344054"/>
                </a:solidFill>
                <a:uFillTx/>
                <a:latin typeface="Calibri"/>
              </a:rPr>
              <a:t>Expiry report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700" strike="noStrike" u="none">
                <a:solidFill>
                  <a:srgbClr val="344054"/>
                </a:solidFill>
                <a:uFillTx/>
                <a:latin typeface="Calibri"/>
              </a:rPr>
              <a:t>Expense report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700" strike="noStrike" u="none">
                <a:solidFill>
                  <a:srgbClr val="344054"/>
                </a:solidFill>
                <a:uFillTx/>
                <a:latin typeface="Calibri"/>
              </a:rPr>
              <a:t>Product sales report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700" strike="noStrike" u="none">
                <a:solidFill>
                  <a:srgbClr val="344054"/>
                </a:solidFill>
                <a:uFillTx/>
                <a:latin typeface="Calibri"/>
              </a:rPr>
              <a:t>Estimated gross and net profit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700" strike="noStrike" u="none">
                <a:solidFill>
                  <a:srgbClr val="344054"/>
                </a:solidFill>
                <a:uFillTx/>
                <a:latin typeface="Calibri"/>
              </a:rPr>
              <a:t>Date filters and export/print options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66" name="Picture 3" descr="grocery_dashboard_mockup.png"/>
          <p:cNvPicPr/>
          <p:nvPr/>
        </p:nvPicPr>
        <p:blipFill>
          <a:blip r:embed="rId1"/>
          <a:stretch/>
        </p:blipFill>
        <p:spPr>
          <a:xfrm>
            <a:off x="6309360" y="1325880"/>
            <a:ext cx="5303160" cy="303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" name="TextBox 4"/>
          <p:cNvSpPr/>
          <p:nvPr/>
        </p:nvSpPr>
        <p:spPr>
          <a:xfrm>
            <a:off x="10999080" y="6446520"/>
            <a:ext cx="3124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787878"/>
                </a:solidFill>
                <a:uFillTx/>
                <a:latin typeface="Calibri"/>
              </a:rPr>
              <a:t>11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/>
          <p:cNvSpPr/>
          <p:nvPr/>
        </p:nvSpPr>
        <p:spPr>
          <a:xfrm>
            <a:off x="4348080" y="320040"/>
            <a:ext cx="3464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173b57"/>
                </a:solidFill>
                <a:uFillTx/>
                <a:latin typeface="Calibri"/>
              </a:rPr>
              <a:t>11. Technology Used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9" name="TextBox 2"/>
          <p:cNvSpPr/>
          <p:nvPr/>
        </p:nvSpPr>
        <p:spPr>
          <a:xfrm>
            <a:off x="1347480" y="1325880"/>
            <a:ext cx="114480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900" strike="noStrike" u="none">
                <a:solidFill>
                  <a:srgbClr val="173b57"/>
                </a:solidFill>
                <a:uFillTx/>
                <a:latin typeface="Calibri"/>
              </a:rPr>
              <a:t>Frontend</a:t>
            </a:r>
            <a:endParaRPr b="0" lang="en-US" sz="1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0" name="TextBox 3"/>
          <p:cNvSpPr/>
          <p:nvPr/>
        </p:nvSpPr>
        <p:spPr>
          <a:xfrm>
            <a:off x="3788640" y="1325880"/>
            <a:ext cx="2114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rgbClr val="344054"/>
                </a:solidFill>
                <a:uFillTx/>
                <a:latin typeface="Calibri"/>
              </a:rPr>
              <a:t>React + TypeScript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1" name="TextBox 4"/>
          <p:cNvSpPr/>
          <p:nvPr/>
        </p:nvSpPr>
        <p:spPr>
          <a:xfrm>
            <a:off x="1708920" y="2075760"/>
            <a:ext cx="42192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900" strike="noStrike" u="none">
                <a:solidFill>
                  <a:srgbClr val="173b57"/>
                </a:solidFill>
                <a:uFillTx/>
                <a:latin typeface="Calibri"/>
              </a:rPr>
              <a:t>UI</a:t>
            </a:r>
            <a:endParaRPr b="0" lang="en-US" sz="1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2" name="TextBox 5"/>
          <p:cNvSpPr/>
          <p:nvPr/>
        </p:nvSpPr>
        <p:spPr>
          <a:xfrm>
            <a:off x="4082040" y="2075760"/>
            <a:ext cx="1527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rgbClr val="344054"/>
                </a:solidFill>
                <a:uFillTx/>
                <a:latin typeface="Calibri"/>
              </a:rPr>
              <a:t>Tailwind CSS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3" name="TextBox 6"/>
          <p:cNvSpPr/>
          <p:nvPr/>
        </p:nvSpPr>
        <p:spPr>
          <a:xfrm>
            <a:off x="1314000" y="2825640"/>
            <a:ext cx="121176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900" strike="noStrike" u="none">
                <a:solidFill>
                  <a:srgbClr val="173b57"/>
                </a:solidFill>
                <a:uFillTx/>
                <a:latin typeface="Calibri"/>
              </a:rPr>
              <a:t>Database</a:t>
            </a:r>
            <a:endParaRPr b="0" lang="en-US" sz="1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4" name="TextBox 7"/>
          <p:cNvSpPr/>
          <p:nvPr/>
        </p:nvSpPr>
        <p:spPr>
          <a:xfrm>
            <a:off x="3586320" y="2825640"/>
            <a:ext cx="2519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rgbClr val="344054"/>
                </a:solidFill>
                <a:uFillTx/>
                <a:latin typeface="Calibri"/>
              </a:rPr>
              <a:t>Supabase PostgreSQL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5" name="TextBox 8"/>
          <p:cNvSpPr/>
          <p:nvPr/>
        </p:nvSpPr>
        <p:spPr>
          <a:xfrm>
            <a:off x="1066320" y="3575160"/>
            <a:ext cx="170712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900" strike="noStrike" u="none">
                <a:solidFill>
                  <a:srgbClr val="173b57"/>
                </a:solidFill>
                <a:uFillTx/>
                <a:latin typeface="Calibri"/>
              </a:rPr>
              <a:t>Authentication</a:t>
            </a:r>
            <a:endParaRPr b="0" lang="en-US" sz="1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6" name="TextBox 9"/>
          <p:cNvSpPr/>
          <p:nvPr/>
        </p:nvSpPr>
        <p:spPr>
          <a:xfrm>
            <a:off x="3980160" y="3575160"/>
            <a:ext cx="17319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rgbClr val="344054"/>
                </a:solidFill>
                <a:uFillTx/>
                <a:latin typeface="Calibri"/>
              </a:rPr>
              <a:t>Supabase Auth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7" name="TextBox 10"/>
          <p:cNvSpPr/>
          <p:nvPr/>
        </p:nvSpPr>
        <p:spPr>
          <a:xfrm>
            <a:off x="1119960" y="4325040"/>
            <a:ext cx="159984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900" strike="noStrike" u="none">
                <a:solidFill>
                  <a:srgbClr val="173b57"/>
                </a:solidFill>
                <a:uFillTx/>
                <a:latin typeface="Calibri"/>
              </a:rPr>
              <a:t>Development</a:t>
            </a:r>
            <a:endParaRPr b="0" lang="en-US" sz="1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" name="TextBox 11"/>
          <p:cNvSpPr/>
          <p:nvPr/>
        </p:nvSpPr>
        <p:spPr>
          <a:xfrm>
            <a:off x="4355280" y="4325040"/>
            <a:ext cx="9817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rgbClr val="344054"/>
                </a:solidFill>
                <a:uFillTx/>
                <a:latin typeface="Calibri"/>
              </a:rPr>
              <a:t>Lovable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9" name="TextBox 12"/>
          <p:cNvSpPr/>
          <p:nvPr/>
        </p:nvSpPr>
        <p:spPr>
          <a:xfrm>
            <a:off x="1454760" y="5074920"/>
            <a:ext cx="93060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900" strike="noStrike" u="none">
                <a:solidFill>
                  <a:srgbClr val="173b57"/>
                </a:solidFill>
                <a:uFillTx/>
                <a:latin typeface="Calibri"/>
              </a:rPr>
              <a:t>Design</a:t>
            </a:r>
            <a:endParaRPr b="0" lang="en-US" sz="1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0" name="TextBox 13"/>
          <p:cNvSpPr/>
          <p:nvPr/>
        </p:nvSpPr>
        <p:spPr>
          <a:xfrm>
            <a:off x="3747600" y="5074920"/>
            <a:ext cx="2197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rgbClr val="344054"/>
                </a:solidFill>
                <a:uFillTx/>
                <a:latin typeface="Calibri"/>
              </a:rPr>
              <a:t>Responsive Web UI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81" name="Picture 14" descr="a_clean_modern_colorful_infographic_style_poster.png"/>
          <p:cNvPicPr/>
          <p:nvPr/>
        </p:nvPicPr>
        <p:blipFill>
          <a:blip r:embed="rId1"/>
          <a:stretch/>
        </p:blipFill>
        <p:spPr>
          <a:xfrm>
            <a:off x="6949440" y="1234440"/>
            <a:ext cx="4571640" cy="3047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" name="TextBox 15"/>
          <p:cNvSpPr/>
          <p:nvPr/>
        </p:nvSpPr>
        <p:spPr>
          <a:xfrm>
            <a:off x="10994400" y="6446520"/>
            <a:ext cx="3218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787878"/>
                </a:solidFill>
                <a:uFillTx/>
                <a:latin typeface="Calibri"/>
              </a:rPr>
              <a:t>12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Box 1"/>
          <p:cNvSpPr/>
          <p:nvPr/>
        </p:nvSpPr>
        <p:spPr>
          <a:xfrm>
            <a:off x="3661200" y="320040"/>
            <a:ext cx="48387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173b57"/>
                </a:solidFill>
                <a:uFillTx/>
                <a:latin typeface="Calibri"/>
              </a:rPr>
              <a:t>12. Sample Grocery Products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4" name="TextBox 2"/>
          <p:cNvSpPr/>
          <p:nvPr/>
        </p:nvSpPr>
        <p:spPr>
          <a:xfrm>
            <a:off x="777240" y="1371600"/>
            <a:ext cx="5668920" cy="277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800" strike="noStrike" u="none">
                <a:solidFill>
                  <a:srgbClr val="344054"/>
                </a:solidFill>
                <a:uFillTx/>
                <a:latin typeface="Calibri"/>
              </a:rPr>
              <a:t>Sona Masoori Rice – 5 kg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800" strike="noStrike" u="none">
                <a:solidFill>
                  <a:srgbClr val="344054"/>
                </a:solidFill>
                <a:uFillTx/>
                <a:latin typeface="Calibri"/>
              </a:rPr>
              <a:t>Fortune Sunflower Oil – 1 Litre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800" strike="noStrike" u="none">
                <a:solidFill>
                  <a:srgbClr val="344054"/>
                </a:solidFill>
                <a:uFillTx/>
                <a:latin typeface="Calibri"/>
              </a:rPr>
              <a:t>Sugar – 1 kg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800" strike="noStrike" u="none">
                <a:solidFill>
                  <a:srgbClr val="344054"/>
                </a:solidFill>
                <a:uFillTx/>
                <a:latin typeface="Calibri"/>
              </a:rPr>
              <a:t>Aashirvaad Atta – 5 kg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800" strike="noStrike" u="none">
                <a:solidFill>
                  <a:srgbClr val="344054"/>
                </a:solidFill>
                <a:uFillTx/>
                <a:latin typeface="Calibri"/>
              </a:rPr>
              <a:t>Tata Salt – 1 kg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800" strike="noStrike" u="none">
                <a:solidFill>
                  <a:srgbClr val="344054"/>
                </a:solidFill>
                <a:uFillTx/>
                <a:latin typeface="Calibri"/>
              </a:rPr>
              <a:t>Other categories: pulses, spices, biscuits, beverages, dairy, cleaning and personal care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85" name="Picture 3" descr="grocery_products_mockup.png"/>
          <p:cNvPicPr/>
          <p:nvPr/>
        </p:nvPicPr>
        <p:blipFill>
          <a:blip r:embed="rId1"/>
          <a:stretch/>
        </p:blipFill>
        <p:spPr>
          <a:xfrm>
            <a:off x="6400800" y="1417320"/>
            <a:ext cx="5211720" cy="260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TextBox 4"/>
          <p:cNvSpPr/>
          <p:nvPr/>
        </p:nvSpPr>
        <p:spPr>
          <a:xfrm>
            <a:off x="10994400" y="6446520"/>
            <a:ext cx="3218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787878"/>
                </a:solidFill>
                <a:uFillTx/>
                <a:latin typeface="Calibri"/>
              </a:rPr>
              <a:t>13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Box 1"/>
          <p:cNvSpPr/>
          <p:nvPr/>
        </p:nvSpPr>
        <p:spPr>
          <a:xfrm>
            <a:off x="5052240" y="320040"/>
            <a:ext cx="20563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173b57"/>
                </a:solidFill>
                <a:uFillTx/>
                <a:latin typeface="Calibri"/>
              </a:rPr>
              <a:t>13. Benefits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8" name="TextBox 2"/>
          <p:cNvSpPr/>
          <p:nvPr/>
        </p:nvSpPr>
        <p:spPr>
          <a:xfrm>
            <a:off x="822960" y="1371600"/>
            <a:ext cx="6583320" cy="249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7600" rIns="576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800" strike="noStrike" u="none">
                <a:solidFill>
                  <a:srgbClr val="344054"/>
                </a:solidFill>
                <a:uFillTx/>
                <a:latin typeface="Calibri"/>
              </a:rPr>
              <a:t>Saves time in daily inventory management.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800" strike="noStrike" u="none">
                <a:solidFill>
                  <a:srgbClr val="344054"/>
                </a:solidFill>
                <a:uFillTx/>
                <a:latin typeface="Calibri"/>
              </a:rPr>
              <a:t>Improves visibility of available stock.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800" strike="noStrike" u="none">
                <a:solidFill>
                  <a:srgbClr val="344054"/>
                </a:solidFill>
                <a:uFillTx/>
                <a:latin typeface="Calibri"/>
              </a:rPr>
              <a:t>Helps identify products that need restocking.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800" strike="noStrike" u="none">
                <a:solidFill>
                  <a:srgbClr val="344054"/>
                </a:solidFill>
                <a:uFillTx/>
                <a:latin typeface="Calibri"/>
              </a:rPr>
              <a:t>Reduces manual calculation errors.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800" strike="noStrike" u="none">
                <a:solidFill>
                  <a:srgbClr val="344054"/>
                </a:solidFill>
                <a:uFillTx/>
                <a:latin typeface="Calibri"/>
              </a:rPr>
              <a:t>Makes sales, purchase and expense records easier to maintain.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800" strike="noStrike" u="none">
                <a:solidFill>
                  <a:srgbClr val="344054"/>
                </a:solidFill>
                <a:uFillTx/>
                <a:latin typeface="Calibri"/>
              </a:rPr>
              <a:t>Provides useful information for shop management.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89" name="Picture 3" descr="grocery_system_flow.png"/>
          <p:cNvPicPr/>
          <p:nvPr/>
        </p:nvPicPr>
        <p:blipFill>
          <a:blip r:embed="rId1"/>
          <a:stretch/>
        </p:blipFill>
        <p:spPr>
          <a:xfrm>
            <a:off x="6949440" y="1828800"/>
            <a:ext cx="4571640" cy="195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" name="TextBox 4"/>
          <p:cNvSpPr/>
          <p:nvPr/>
        </p:nvSpPr>
        <p:spPr>
          <a:xfrm>
            <a:off x="10994400" y="6446520"/>
            <a:ext cx="3218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787878"/>
                </a:solidFill>
                <a:uFillTx/>
                <a:latin typeface="Calibri"/>
              </a:rPr>
              <a:t>14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Box 1"/>
          <p:cNvSpPr/>
          <p:nvPr/>
        </p:nvSpPr>
        <p:spPr>
          <a:xfrm>
            <a:off x="3947040" y="320040"/>
            <a:ext cx="42670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173b57"/>
                </a:solidFill>
                <a:uFillTx/>
                <a:latin typeface="Calibri"/>
              </a:rPr>
              <a:t>14. Future Enhancements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2" name="TextBox 2"/>
          <p:cNvSpPr/>
          <p:nvPr/>
        </p:nvSpPr>
        <p:spPr>
          <a:xfrm>
            <a:off x="822960" y="1371600"/>
            <a:ext cx="5668920" cy="335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800" strike="noStrike" u="none">
                <a:solidFill>
                  <a:srgbClr val="344054"/>
                </a:solidFill>
                <a:uFillTx/>
                <a:latin typeface="Calibri"/>
              </a:rPr>
              <a:t>Barcode scanner integration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800" strike="noStrike" u="none">
                <a:solidFill>
                  <a:srgbClr val="344054"/>
                </a:solidFill>
                <a:uFillTx/>
                <a:latin typeface="Calibri"/>
              </a:rPr>
              <a:t>Advanced GST invoicing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800" strike="noStrike" u="none">
                <a:solidFill>
                  <a:srgbClr val="344054"/>
                </a:solidFill>
                <a:uFillTx/>
                <a:latin typeface="Calibri"/>
              </a:rPr>
              <a:t>Supplier payment tracking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800" strike="noStrike" u="none">
                <a:solidFill>
                  <a:srgbClr val="344054"/>
                </a:solidFill>
                <a:uFillTx/>
                <a:latin typeface="Calibri"/>
              </a:rPr>
              <a:t>Customer credit management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800" strike="noStrike" u="none">
                <a:solidFill>
                  <a:srgbClr val="344054"/>
                </a:solidFill>
                <a:uFillTx/>
                <a:latin typeface="Calibri"/>
              </a:rPr>
              <a:t>WhatsApp/SMS notifications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800" strike="noStrike" u="none">
                <a:solidFill>
                  <a:srgbClr val="344054"/>
                </a:solidFill>
                <a:uFillTx/>
                <a:latin typeface="Calibri"/>
              </a:rPr>
              <a:t>Cloud backup and restore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800" strike="noStrike" u="none">
                <a:solidFill>
                  <a:srgbClr val="344054"/>
                </a:solidFill>
                <a:uFillTx/>
                <a:latin typeface="Calibri"/>
              </a:rPr>
              <a:t>Advanced business analytics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800" strike="noStrike" u="none">
                <a:solidFill>
                  <a:srgbClr val="344054"/>
                </a:solidFill>
                <a:uFillTx/>
                <a:latin typeface="Calibri"/>
              </a:rPr>
              <a:t>Multi-user roles and permissions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93" name="Picture 3" descr="a_clean_modern_colorful_infographic_style_poster.png"/>
          <p:cNvPicPr/>
          <p:nvPr/>
        </p:nvPicPr>
        <p:blipFill>
          <a:blip r:embed="rId1"/>
          <a:stretch/>
        </p:blipFill>
        <p:spPr>
          <a:xfrm>
            <a:off x="6583680" y="1325880"/>
            <a:ext cx="4937400" cy="3291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" name="TextBox 4"/>
          <p:cNvSpPr/>
          <p:nvPr/>
        </p:nvSpPr>
        <p:spPr>
          <a:xfrm>
            <a:off x="10994400" y="6446520"/>
            <a:ext cx="3218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787878"/>
                </a:solidFill>
                <a:uFillTx/>
                <a:latin typeface="Calibri"/>
              </a:rPr>
              <a:t>15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Box 1"/>
          <p:cNvSpPr/>
          <p:nvPr/>
        </p:nvSpPr>
        <p:spPr>
          <a:xfrm>
            <a:off x="4815360" y="320040"/>
            <a:ext cx="25300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173b57"/>
                </a:solidFill>
                <a:uFillTx/>
                <a:latin typeface="Calibri"/>
              </a:rPr>
              <a:t>15. Conclusion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6" name="TextBox 2"/>
          <p:cNvSpPr/>
          <p:nvPr/>
        </p:nvSpPr>
        <p:spPr>
          <a:xfrm>
            <a:off x="822960" y="1508760"/>
            <a:ext cx="6583320" cy="268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2000" strike="noStrike" u="none">
                <a:solidFill>
                  <a:srgbClr val="344054"/>
                </a:solidFill>
                <a:uFillTx/>
                <a:latin typeface="Calibri"/>
              </a:rPr>
              <a:t>The system provides a centralized solution for daily grocery shop operations.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2000" strike="noStrike" u="none">
                <a:solidFill>
                  <a:srgbClr val="344054"/>
                </a:solidFill>
                <a:uFillTx/>
                <a:latin typeface="Calibri"/>
              </a:rPr>
              <a:t>Products, purchases, sales and inventory are connected through transaction-based stock management.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2000" strike="noStrike" u="none">
                <a:solidFill>
                  <a:srgbClr val="344054"/>
                </a:solidFill>
                <a:uFillTx/>
                <a:latin typeface="Calibri"/>
              </a:rPr>
              <a:t>The project can be expanded with advanced billing, analytics and business features.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2000" strike="noStrike" u="none">
                <a:solidFill>
                  <a:srgbClr val="344054"/>
                </a:solidFill>
                <a:uFillTx/>
                <a:latin typeface="Calibri"/>
              </a:rPr>
              <a:t>It is designed to be practical for real-world retail use.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97" name="Picture 3" descr="grocery_dashboard_mockup.png"/>
          <p:cNvPicPr/>
          <p:nvPr/>
        </p:nvPicPr>
        <p:blipFill>
          <a:blip r:embed="rId1"/>
          <a:stretch/>
        </p:blipFill>
        <p:spPr>
          <a:xfrm>
            <a:off x="7223760" y="1371600"/>
            <a:ext cx="4388760" cy="2507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" name="TextBox 4"/>
          <p:cNvSpPr/>
          <p:nvPr/>
        </p:nvSpPr>
        <p:spPr>
          <a:xfrm>
            <a:off x="10994400" y="6446520"/>
            <a:ext cx="3218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787878"/>
                </a:solidFill>
                <a:uFillTx/>
                <a:latin typeface="Calibri"/>
              </a:rPr>
              <a:t>16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Picture 1" descr="a_clean_modern_colorful_infographic_style_poster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" name="Rounded Rectangle 2"/>
          <p:cNvSpPr/>
          <p:nvPr/>
        </p:nvSpPr>
        <p:spPr>
          <a:xfrm>
            <a:off x="3017520" y="5257800"/>
            <a:ext cx="6217560" cy="822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dist="23040" dir="5400000" blurRad="39960" sx="100000" sy="100000" algn="b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300" strike="noStrike" u="none">
                <a:solidFill>
                  <a:srgbClr val="173b57"/>
                </a:solidFill>
                <a:uFillTx/>
                <a:latin typeface="Calibri"/>
              </a:rPr>
              <a:t>Thank You • Questions &amp; Discussion</a:t>
            </a:r>
            <a:endParaRPr b="0" lang="en-US" sz="2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1" name="TextBox 3"/>
          <p:cNvSpPr/>
          <p:nvPr/>
        </p:nvSpPr>
        <p:spPr>
          <a:xfrm>
            <a:off x="10994400" y="6446520"/>
            <a:ext cx="3218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787878"/>
                </a:solidFill>
                <a:uFillTx/>
                <a:latin typeface="Calibri"/>
              </a:rPr>
              <a:t>17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LibreOfficeDev/24.8.7.2.0$Android_AARCH64 LibreOffice_project/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